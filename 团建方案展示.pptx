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79" r:id="rId4"/>
    <p:sldId id="282" r:id="rId6"/>
    <p:sldId id="258" r:id="rId7"/>
    <p:sldId id="259" r:id="rId8"/>
    <p:sldId id="283" r:id="rId9"/>
    <p:sldId id="263" r:id="rId10"/>
    <p:sldId id="264" r:id="rId11"/>
    <p:sldId id="268" r:id="rId12"/>
    <p:sldId id="293" r:id="rId13"/>
    <p:sldId id="292" r:id="rId14"/>
    <p:sldId id="287" r:id="rId15"/>
    <p:sldId id="288" r:id="rId16"/>
    <p:sldId id="289" r:id="rId17"/>
    <p:sldId id="290" r:id="rId18"/>
    <p:sldId id="29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9.jpe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altLang="zh-CN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XXXXXX</a:t>
            </a:r>
            <a:r>
              <a:rPr lang="zh-CN" alt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年度</a:t>
            </a:r>
            <a:r>
              <a:rPr lang="zh-CN" alt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团建</a:t>
            </a:r>
            <a:endParaRPr lang="zh-CN" altLang="en-US" sz="37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AE9CE2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388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5960" r="5960"/>
          <a:stretch>
            <a:fillRect/>
          </a:stretch>
        </p:blipFill>
        <p:spPr>
          <a:xfrm>
            <a:off x="0" y="0"/>
            <a:ext cx="9144000" cy="583882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5230" b="5230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rcRect l="5960" r="5960"/>
          <a:stretch>
            <a:fillRect/>
          </a:stretch>
        </p:blipFill>
        <p:spPr>
          <a:xfrm>
            <a:off x="0" y="0"/>
            <a:ext cx="9144000" cy="5838825"/>
          </a:xfrm>
          <a:prstGeom prst="rect">
            <a:avLst/>
          </a:prstGeom>
        </p:spPr>
      </p:pic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2"/>
          <a:srcRect t="5230" b="5230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464185" y="672465"/>
            <a:ext cx="4572000" cy="764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ts val="52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环境条件分析</a:t>
            </a:r>
            <a:endParaRPr lang="en-US" altLang="en-US" sz="3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535" y="1143000"/>
            <a:ext cx="4414520" cy="418147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727075" y="2436495"/>
            <a:ext cx="19773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周六温度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9~15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°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天气晴朗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可进行户外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活动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4815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元荡湖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57225" y="1954847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22860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" y="2165350"/>
            <a:ext cx="5481955" cy="2703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388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5960" r="5960"/>
          <a:stretch>
            <a:fillRect/>
          </a:stretch>
        </p:blipFill>
        <p:spPr>
          <a:xfrm>
            <a:off x="0" y="0"/>
            <a:ext cx="9144000" cy="583882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5230" b="5230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环湖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骑行</a:t>
            </a:r>
            <a:endParaRPr lang="zh-CN" altLang="en-US" sz="22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525" y="707390"/>
            <a:ext cx="3696335" cy="49276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321310" y="948055"/>
            <a:ext cx="3757930" cy="415417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起点：元荡湖游客服务中心 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租车党：打车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导航至「美帆骑行驿站」，租车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68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/2.5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小时，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自带车党：直接导航至「元荡湖游客服务中心」开始骑行 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600" b="0" i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沿途路线： 全程沿湖岸骑行，岔路少，路线平缓无陡坡，新手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亲子家庭无压力！ 推荐用两步路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导航，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边拍边玩：骑行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小时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休息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小时（约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小时） 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纯骑行不停留：</a:t>
            </a:r>
            <a:r>
              <a:rPr lang="en-US" altLang="zh-CN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1.5</a:t>
            </a:r>
            <a:r>
              <a:rPr lang="zh-CN" altLang="en-US" sz="1600" b="0" i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小时内可完成 </a:t>
            </a:r>
            <a:endParaRPr lang="zh-CN" altLang="en-US" sz="1600" b="0" i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388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5960" r="5960"/>
          <a:stretch>
            <a:fillRect/>
          </a:stretch>
        </p:blipFill>
        <p:spPr>
          <a:xfrm>
            <a:off x="0" y="0"/>
            <a:ext cx="9144000" cy="583882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5230" b="5230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露营（含空调）自助烧烤</a:t>
            </a:r>
            <a:r>
              <a:rPr lang="en-US" altLang="zh-CN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&amp;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游戏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活动</a:t>
            </a:r>
            <a:endParaRPr lang="zh-CN" altLang="en-US" sz="22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3617" b="7827"/>
          <a:stretch>
            <a:fillRect/>
          </a:stretch>
        </p:blipFill>
        <p:spPr>
          <a:xfrm>
            <a:off x="6241415" y="1409700"/>
            <a:ext cx="2902585" cy="44221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t="37086" b="31531"/>
          <a:stretch>
            <a:fillRect/>
          </a:stretch>
        </p:blipFill>
        <p:spPr>
          <a:xfrm>
            <a:off x="3414395" y="1487170"/>
            <a:ext cx="2314575" cy="16141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t="25370" b="11469"/>
          <a:stretch>
            <a:fillRect/>
          </a:stretch>
        </p:blipFill>
        <p:spPr>
          <a:xfrm>
            <a:off x="456565" y="1409700"/>
            <a:ext cx="2136775" cy="29997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rcRect t="31852" b="39704"/>
          <a:stretch>
            <a:fillRect/>
          </a:stretch>
        </p:blipFill>
        <p:spPr>
          <a:xfrm>
            <a:off x="3366135" y="3848100"/>
            <a:ext cx="2314575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120" y="18542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别墅轰趴</a:t>
            </a: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文莲雅</a:t>
            </a:r>
            <a:r>
              <a:rPr lang="zh-CN" alt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居</a:t>
            </a:r>
            <a:endParaRPr lang="zh-CN" altLang="en-US" sz="37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06120" y="169513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706120" y="189992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65" y="2367280"/>
            <a:ext cx="4740275" cy="2410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7825"/>
          </a:xfrm>
          <a:prstGeom prst="rect">
            <a:avLst/>
          </a:prstGeom>
          <a:solidFill>
            <a:srgbClr val="FFFFFF"/>
          </a:solidFill>
        </p:spPr>
        <p:txBody>
          <a:bodyPr/>
          <a:p>
            <a:r>
              <a:rPr lang="zh-CN" altLang="en-US"/>
              <a:t>★负一楼（共</a:t>
            </a:r>
            <a:r>
              <a:rPr lang="en-US" altLang="zh-CN"/>
              <a:t>2</a:t>
            </a:r>
            <a:r>
              <a:rPr lang="zh-CN" altLang="en-US"/>
              <a:t>间房）：</a:t>
            </a:r>
            <a:r>
              <a:rPr lang="en-US" altLang="zh-CN"/>
              <a:t>KTV</a:t>
            </a:r>
            <a:r>
              <a:rPr lang="zh-CN" altLang="en-US"/>
              <a:t>、吧台、电竞五黑、街机</a:t>
            </a:r>
            <a:r>
              <a:rPr lang="en-US" altLang="zh-CN"/>
              <a:t>*2</a:t>
            </a:r>
            <a:r>
              <a:rPr lang="zh-CN" altLang="en-US"/>
              <a:t>、模拟赛车、火力全开、篮球架、拳击、品茗区、棋牌、大床房</a:t>
            </a:r>
            <a:r>
              <a:rPr lang="en-US" altLang="zh-CN"/>
              <a:t>1.8*2</a:t>
            </a:r>
            <a:r>
              <a:rPr lang="zh-CN" altLang="en-US"/>
              <a:t>米床</a:t>
            </a:r>
            <a:r>
              <a:rPr lang="en-US" altLang="zh-CN"/>
              <a:t>+1.8*2</a:t>
            </a:r>
            <a:r>
              <a:rPr lang="zh-CN" altLang="en-US"/>
              <a:t>米床、家庭影院、公共卫生间（可淋浴）★一楼（共</a:t>
            </a:r>
            <a:r>
              <a:rPr lang="en-US" altLang="zh-CN"/>
              <a:t>2</a:t>
            </a:r>
            <a:r>
              <a:rPr lang="zh-CN" altLang="en-US"/>
              <a:t>间房）：多功能厅（可投影、可桌游）、餐厅、上下铺、榻榻米、公共卫生间</a:t>
            </a:r>
            <a:r>
              <a:rPr lang="en-US" altLang="zh-CN"/>
              <a:t>*2</a:t>
            </a:r>
            <a:r>
              <a:rPr lang="zh-CN" altLang="en-US"/>
              <a:t>（可淋浴）★院子：烧烤区</a:t>
            </a:r>
            <a:endParaRPr lang="zh-CN" alt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rcRect t="5230" b="5230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22" name="图片 21" descr="6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380" y="414020"/>
            <a:ext cx="3050540" cy="1895475"/>
          </a:xfrm>
          <a:prstGeom prst="rect">
            <a:avLst/>
          </a:prstGeom>
        </p:spPr>
      </p:pic>
      <p:pic>
        <p:nvPicPr>
          <p:cNvPr id="23" name="图片 22" descr="640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380" y="2787015"/>
            <a:ext cx="3168650" cy="2113280"/>
          </a:xfrm>
          <a:prstGeom prst="rect">
            <a:avLst/>
          </a:prstGeom>
        </p:spPr>
      </p:pic>
      <p:pic>
        <p:nvPicPr>
          <p:cNvPr id="24" name="图片 23" descr="640 (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425" y="2763520"/>
            <a:ext cx="3203575" cy="2136775"/>
          </a:xfrm>
          <a:prstGeom prst="rect">
            <a:avLst/>
          </a:prstGeom>
        </p:spPr>
      </p:pic>
      <p:pic>
        <p:nvPicPr>
          <p:cNvPr id="25" name="图片 24" descr="640 (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8030" y="414020"/>
            <a:ext cx="3213735" cy="180911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80340" y="161290"/>
            <a:ext cx="2366645" cy="3809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★负一楼（共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间房）：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KTV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、吧台、电竞五黑、街机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、模拟赛车、火力全开、篮球架、拳击、品茗区、棋牌、大床房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1.8*2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米床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+1.8*2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米床、家庭影院、公共卫生间（可淋浴）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★一楼（共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间房）：多功能厅（可投影、可桌游）、餐厅、上下铺、榻榻米、公共卫生间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（可淋浴）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★院子：烧烤区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738120" y="5003800"/>
            <a:ext cx="4154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费用：</a:t>
            </a:r>
            <a:r>
              <a:rPr lang="en-US" altLang="zh-CN"/>
              <a:t>7h 2080 </a:t>
            </a:r>
            <a:r>
              <a:rPr lang="zh-CN" altLang="en-US"/>
              <a:t>餐食可订购或者</a:t>
            </a:r>
            <a:r>
              <a:rPr lang="zh-CN" altLang="en-US"/>
              <a:t>自带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9780" y="168910"/>
            <a:ext cx="4762500" cy="8356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佘山国家旅游</a:t>
            </a:r>
            <a:r>
              <a:rPr lang="zh-CN" alt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度假区</a:t>
            </a:r>
            <a:endParaRPr lang="zh-CN" altLang="en-US" sz="37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25500" y="1004887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2402205"/>
            <a:ext cx="5178425" cy="2355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4485" y="377825"/>
            <a:ext cx="3134995" cy="4280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，真人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CS:120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，皮划艇：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88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，烧烤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桌餐：菜单自选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4,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垂钓：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位（杆，饵料）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脚踏船：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68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，烤全羊：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2088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/22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斤以上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垂钓小龙虾：暂停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，骑马：体验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，野骑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45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350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9.KTV:1500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参考策划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方案：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5840" y="2463800"/>
            <a:ext cx="3558540" cy="2613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670" y="120015"/>
            <a:ext cx="3124835" cy="23437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9780" y="168910"/>
            <a:ext cx="4762500" cy="8356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秘语森林基地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825500" y="1004887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" y="2400935"/>
            <a:ext cx="5154930" cy="229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046845" cy="5079682"/>
            <a:chOff x="0" y="0"/>
            <a:chExt cx="12062460" cy="6772909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387095"/>
              <a:ext cx="12062460" cy="63855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039" y="0"/>
              <a:ext cx="3135782" cy="88459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65166" y="165734"/>
            <a:ext cx="3607308" cy="481202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51290" y="166487"/>
            <a:ext cx="1329214" cy="2323148"/>
            <a:chOff x="868387" y="221983"/>
            <a:chExt cx="1772285" cy="30975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3549" y="989787"/>
              <a:ext cx="857046" cy="1524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387" y="221983"/>
              <a:ext cx="889177" cy="309742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96645" y="108584"/>
            <a:ext cx="3975735" cy="4927759"/>
            <a:chOff x="795527" y="144779"/>
            <a:chExt cx="5300980" cy="657034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5527" y="3429000"/>
              <a:ext cx="5035296" cy="32857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4304" y="144779"/>
              <a:ext cx="2901696" cy="38679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19071" y="222884"/>
            <a:ext cx="7110603" cy="49206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5678" y="9773"/>
            <a:ext cx="1146334" cy="5086350"/>
            <a:chOff x="127571" y="13030"/>
            <a:chExt cx="1528445" cy="6781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571" y="394157"/>
              <a:ext cx="1226388" cy="26983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923" y="3106737"/>
              <a:ext cx="364413" cy="41261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229" y="3553777"/>
              <a:ext cx="448379" cy="228029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4264" y="13030"/>
              <a:ext cx="351218" cy="122062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4264" y="1440510"/>
              <a:ext cx="351218" cy="19272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4264" y="3585552"/>
              <a:ext cx="351218" cy="156969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2489" y="5374347"/>
              <a:ext cx="315043" cy="3403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16785" y="5750915"/>
              <a:ext cx="326810" cy="3009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08379" y="6090615"/>
              <a:ext cx="344373" cy="703618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98238" y="1693783"/>
            <a:ext cx="263414" cy="18583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90996" y="380618"/>
            <a:ext cx="3086100" cy="24300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493900" y="548639"/>
            <a:ext cx="6668262" cy="40462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892" y="640937"/>
            <a:ext cx="723157" cy="24707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53145" y="175946"/>
            <a:ext cx="1096870" cy="6781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5118" y="220218"/>
            <a:ext cx="1149029" cy="5883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2326" y="933831"/>
            <a:ext cx="8724519" cy="39604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WPS 演示</Application>
  <PresentationFormat>On-screen Show (16:9)</PresentationFormat>
  <Paragraphs>63</Paragraphs>
  <Slides>15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S²K @</cp:lastModifiedBy>
  <cp:revision>4</cp:revision>
  <dcterms:created xsi:type="dcterms:W3CDTF">2026-01-08T13:49:00Z</dcterms:created>
  <dcterms:modified xsi:type="dcterms:W3CDTF">2026-01-11T09:47:09Z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06394C6620724225ABDB9BC90EE4BA75_13</vt:lpwstr>
  </property>
</Properties>
</file>