
<file path=[Content_Types].xml><?xml version="1.0" encoding="utf-8"?>
<Types xmlns="http://schemas.openxmlformats.org/package/2006/content-types">
  <Default Extension="vml" ContentType="application/vnd.openxmlformats-officedocument.vmlDrawing"/>
  <Default Extension="bin" ContentType="application/vnd.openxmlformats-officedocument.oleObject"/>
  <Default Extension="jpeg" ContentType="image/jpeg"/>
  <Default Extension="JPG" ContentType="image/.jpg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1" r:id="rId3"/>
  </p:sldMasterIdLst>
  <p:notesMasterIdLst>
    <p:notesMasterId r:id="rId5"/>
  </p:notesMasterIdLst>
  <p:sldIdLst>
    <p:sldId id="279" r:id="rId4"/>
    <p:sldId id="282" r:id="rId6"/>
    <p:sldId id="258" r:id="rId7"/>
    <p:sldId id="259" r:id="rId8"/>
    <p:sldId id="283" r:id="rId9"/>
    <p:sldId id="263" r:id="rId10"/>
    <p:sldId id="264" r:id="rId11"/>
    <p:sldId id="268" r:id="rId12"/>
    <p:sldId id="293" r:id="rId13"/>
    <p:sldId id="292" r:id="rId14"/>
    <p:sldId id="287" r:id="rId15"/>
    <p:sldId id="288" r:id="rId16"/>
    <p:sldId id="289" r:id="rId17"/>
    <p:sldId id="290" r:id="rId18"/>
    <p:sldId id="291" r:id="rId1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0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.xml"/><Relationship Id="rId7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1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6.jpeg"/><Relationship Id="rId4" Type="http://schemas.openxmlformats.org/officeDocument/2006/relationships/image" Target="../media/image15.jpeg"/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1" Type="http://schemas.openxmlformats.org/officeDocument/2006/relationships/image" Target="../media/image5.jpe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vmlDrawing" Target="../drawings/vmlDrawing1.v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0.wmf"/><Relationship Id="rId3" Type="http://schemas.openxmlformats.org/officeDocument/2006/relationships/oleObject" Target="../embeddings/oleObject1.bin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1" Type="http://schemas.openxmlformats.org/officeDocument/2006/relationships/image" Target="../media/image5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1" Type="http://schemas.openxmlformats.org/officeDocument/2006/relationships/image" Target="../media/image22.jpe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8.jpeg"/><Relationship Id="rId4" Type="http://schemas.openxmlformats.org/officeDocument/2006/relationships/image" Target="../media/image27.jpe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jpe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37.png"/><Relationship Id="rId8" Type="http://schemas.openxmlformats.org/officeDocument/2006/relationships/image" Target="../media/image36.png"/><Relationship Id="rId7" Type="http://schemas.openxmlformats.org/officeDocument/2006/relationships/image" Target="../media/image35.png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40.jpeg"/><Relationship Id="rId11" Type="http://schemas.openxmlformats.org/officeDocument/2006/relationships/image" Target="../media/image39.png"/><Relationship Id="rId10" Type="http://schemas.openxmlformats.org/officeDocument/2006/relationships/image" Target="../media/image38.png"/><Relationship Id="rId1" Type="http://schemas.openxmlformats.org/officeDocument/2006/relationships/image" Target="../media/image29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2.png"/><Relationship Id="rId1" Type="http://schemas.openxmlformats.org/officeDocument/2006/relationships/image" Target="../media/image41.jpe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5.jpeg"/><Relationship Id="rId2" Type="http://schemas.openxmlformats.org/officeDocument/2006/relationships/image" Target="../media/image44.png"/><Relationship Id="rId1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 l="6" r="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1500188"/>
            <a:ext cx="8001000" cy="6667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5250"/>
              </a:lnSpc>
              <a:buNone/>
            </a:pPr>
            <a:r>
              <a:rPr lang="en-US" altLang="zh-CN" sz="37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XXXXXX</a:t>
            </a:r>
            <a:r>
              <a:rPr lang="zh-CN" altLang="en-US" sz="37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年度</a:t>
            </a:r>
            <a:r>
              <a:rPr lang="zh-CN" altLang="en-US" sz="37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团建</a:t>
            </a:r>
            <a:endParaRPr lang="zh-CN" altLang="en-US" sz="3750" b="1" dirty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4" name="Text 1"/>
          <p:cNvSpPr/>
          <p:nvPr/>
        </p:nvSpPr>
        <p:spPr>
          <a:xfrm>
            <a:off x="571500" y="2243138"/>
            <a:ext cx="8001000" cy="4000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3150"/>
              </a:lnSpc>
              <a:buNone/>
            </a:pPr>
            <a:endParaRPr lang="en-US" sz="2250" dirty="0"/>
          </a:p>
        </p:txBody>
      </p:sp>
      <p:sp>
        <p:nvSpPr>
          <p:cNvPr id="5" name="Shape 2"/>
          <p:cNvSpPr/>
          <p:nvPr/>
        </p:nvSpPr>
        <p:spPr>
          <a:xfrm>
            <a:off x="4269581" y="2976563"/>
            <a:ext cx="604838" cy="114300"/>
          </a:xfrm>
          <a:prstGeom prst="rect">
            <a:avLst/>
          </a:prstGeom>
          <a:solidFill>
            <a:srgbClr val="AE9CE2"/>
          </a:solidFill>
        </p:spPr>
      </p:sp>
      <p:sp>
        <p:nvSpPr>
          <p:cNvPr id="6" name="Text 3"/>
          <p:cNvSpPr/>
          <p:nvPr/>
        </p:nvSpPr>
        <p:spPr>
          <a:xfrm>
            <a:off x="571500" y="3424238"/>
            <a:ext cx="8001000" cy="219075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725"/>
              </a:lnSpc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838825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rcRect l="5960" r="5960"/>
          <a:stretch>
            <a:fillRect/>
          </a:stretch>
        </p:blipFill>
        <p:spPr>
          <a:xfrm>
            <a:off x="0" y="0"/>
            <a:ext cx="9144000" cy="5838825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rcRect t="5230" b="5230"/>
          <a:stretch>
            <a:fillRect/>
          </a:stretch>
        </p:blipFill>
        <p:spPr>
          <a:xfrm>
            <a:off x="0" y="0"/>
            <a:ext cx="9144000" cy="16383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71500" y="1143000"/>
            <a:ext cx="8001000" cy="2095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200" dirty="0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1"/>
          <a:srcRect l="5960" r="5960"/>
          <a:stretch>
            <a:fillRect/>
          </a:stretch>
        </p:blipFill>
        <p:spPr>
          <a:xfrm>
            <a:off x="0" y="0"/>
            <a:ext cx="9144000" cy="5838825"/>
          </a:xfrm>
          <a:prstGeom prst="rect">
            <a:avLst/>
          </a:prstGeom>
        </p:spPr>
      </p:pic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2"/>
          <a:srcRect t="5230" b="5230"/>
          <a:stretch>
            <a:fillRect/>
          </a:stretch>
        </p:blipFill>
        <p:spPr>
          <a:xfrm>
            <a:off x="0" y="0"/>
            <a:ext cx="9144000" cy="1638300"/>
          </a:xfrm>
          <a:prstGeom prst="rect">
            <a:avLst/>
          </a:prstGeom>
        </p:spPr>
      </p:pic>
      <p:sp>
        <p:nvSpPr>
          <p:cNvPr id="29" name="文本框 28"/>
          <p:cNvSpPr txBox="1"/>
          <p:nvPr/>
        </p:nvSpPr>
        <p:spPr>
          <a:xfrm>
            <a:off x="464185" y="672465"/>
            <a:ext cx="4572000" cy="7645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l">
              <a:lnSpc>
                <a:spcPts val="5250"/>
              </a:lnSpc>
              <a:buNone/>
            </a:pPr>
            <a:r>
              <a:rPr lang="en-US" sz="3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环境条件分析</a:t>
            </a:r>
            <a:endParaRPr lang="en-US" altLang="en-US" sz="3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0535" y="1143000"/>
            <a:ext cx="4414520" cy="4181475"/>
          </a:xfrm>
          <a:prstGeom prst="rect">
            <a:avLst/>
          </a:prstGeom>
        </p:spPr>
      </p:pic>
      <p:sp>
        <p:nvSpPr>
          <p:cNvPr id="41" name="文本框 40"/>
          <p:cNvSpPr txBox="1"/>
          <p:nvPr/>
        </p:nvSpPr>
        <p:spPr>
          <a:xfrm>
            <a:off x="727075" y="2436495"/>
            <a:ext cx="197739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200000"/>
              </a:lnSpc>
            </a:pP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周六温度</a:t>
            </a: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9~15</a:t>
            </a: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°</a:t>
            </a:r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indent="0" fontAlgn="auto">
              <a:lnSpc>
                <a:spcPct val="200000"/>
              </a:lnSpc>
            </a:pP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天气晴朗</a:t>
            </a:r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indent="0" fontAlgn="auto">
              <a:lnSpc>
                <a:spcPct val="200000"/>
              </a:lnSpc>
            </a:pP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可进行户外</a:t>
            </a: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活动</a:t>
            </a:r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 l="6" r="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4815"/>
            <a:ext cx="4762500" cy="13335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37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元荡湖</a:t>
            </a:r>
            <a:endParaRPr lang="en-US" sz="3750" dirty="0"/>
          </a:p>
        </p:txBody>
      </p:sp>
      <p:sp>
        <p:nvSpPr>
          <p:cNvPr id="4" name="Shape 1"/>
          <p:cNvSpPr/>
          <p:nvPr/>
        </p:nvSpPr>
        <p:spPr>
          <a:xfrm>
            <a:off x="657225" y="1954847"/>
            <a:ext cx="4762500" cy="14288"/>
          </a:xfrm>
          <a:prstGeom prst="rect">
            <a:avLst/>
          </a:prstGeom>
          <a:solidFill>
            <a:srgbClr val="000000">
              <a:alpha val="30000"/>
            </a:srgbClr>
          </a:solidFill>
        </p:spPr>
      </p:sp>
      <p:sp>
        <p:nvSpPr>
          <p:cNvPr id="5" name="Text 2"/>
          <p:cNvSpPr/>
          <p:nvPr/>
        </p:nvSpPr>
        <p:spPr>
          <a:xfrm>
            <a:off x="571500" y="4362450"/>
            <a:ext cx="4762500" cy="2095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19725" y="2286000"/>
            <a:ext cx="3729038" cy="28575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2500"/>
              </a:lnSpc>
              <a:buNone/>
            </a:pPr>
            <a:r>
              <a:rPr lang="en-US" sz="22500" b="1" dirty="0">
                <a:solidFill>
                  <a:srgbClr val="BFAFE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22500" dirty="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25" y="2165350"/>
            <a:ext cx="5481955" cy="27031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838825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rcRect l="5960" r="5960"/>
          <a:stretch>
            <a:fillRect/>
          </a:stretch>
        </p:blipFill>
        <p:spPr>
          <a:xfrm>
            <a:off x="0" y="0"/>
            <a:ext cx="9144000" cy="5838825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rcRect t="5230" b="5230"/>
          <a:stretch>
            <a:fillRect/>
          </a:stretch>
        </p:blipFill>
        <p:spPr>
          <a:xfrm>
            <a:off x="0" y="0"/>
            <a:ext cx="9144000" cy="16383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71500" y="285750"/>
            <a:ext cx="8001000" cy="8001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150"/>
              </a:lnSpc>
              <a:buNone/>
            </a:pPr>
            <a:r>
              <a:rPr lang="zh-CN" altLang="en-US" sz="22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环湖</a:t>
            </a:r>
            <a:r>
              <a:rPr lang="zh-CN" altLang="en-US" sz="22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骑行</a:t>
            </a:r>
            <a:endParaRPr lang="zh-CN" altLang="en-US" sz="2250" b="1" dirty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6" name="Text 2"/>
          <p:cNvSpPr/>
          <p:nvPr/>
        </p:nvSpPr>
        <p:spPr>
          <a:xfrm>
            <a:off x="571500" y="1143000"/>
            <a:ext cx="8001000" cy="2095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200" dirty="0"/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7525" y="707390"/>
            <a:ext cx="3696335" cy="4927600"/>
          </a:xfrm>
          <a:prstGeom prst="rect">
            <a:avLst/>
          </a:prstGeom>
        </p:spPr>
      </p:pic>
      <p:sp>
        <p:nvSpPr>
          <p:cNvPr id="29" name="文本框 28"/>
          <p:cNvSpPr txBox="1"/>
          <p:nvPr/>
        </p:nvSpPr>
        <p:spPr>
          <a:xfrm>
            <a:off x="321310" y="948055"/>
            <a:ext cx="3757930" cy="4154170"/>
          </a:xfrm>
          <a:prstGeom prst="rect">
            <a:avLst/>
          </a:prstGeom>
        </p:spPr>
        <p:txBody>
          <a:bodyPr wrap="square">
            <a:spAutoFit/>
          </a:bodyPr>
          <a:p>
            <a:pPr indent="0" fontAlgn="auto">
              <a:lnSpc>
                <a:spcPct val="150000"/>
              </a:lnSpc>
            </a:pPr>
            <a:r>
              <a:rPr lang="zh-CN" altLang="en-US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起点：元荡湖游客服务中心 </a:t>
            </a:r>
            <a:endParaRPr lang="zh-CN" altLang="en-US" sz="1600" b="0" i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租车党：打车</a:t>
            </a:r>
            <a:r>
              <a:rPr lang="en-US" altLang="zh-CN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</a:t>
            </a:r>
            <a:r>
              <a:rPr lang="zh-CN" altLang="en-US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导航至「美帆骑行驿站」，租车</a:t>
            </a:r>
            <a:r>
              <a:rPr lang="en-US" altLang="zh-CN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68</a:t>
            </a:r>
            <a:r>
              <a:rPr lang="zh-CN" altLang="en-US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元</a:t>
            </a:r>
            <a:r>
              <a:rPr lang="en-US" altLang="zh-CN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/2.5</a:t>
            </a:r>
            <a:r>
              <a:rPr lang="zh-CN" altLang="en-US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小时，</a:t>
            </a:r>
            <a:endParaRPr lang="zh-CN" altLang="en-US" sz="1600" b="0" i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自带车党：直接导航至「元荡湖游客服务中心」开始骑行 </a:t>
            </a:r>
            <a:r>
              <a:rPr lang="en-US" altLang="zh-CN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endParaRPr lang="en-US" altLang="zh-CN" sz="1600" b="0" i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沿途路线： 全程沿湖岸骑行，岔路少，路线平缓无陡坡，新手</a:t>
            </a:r>
            <a:r>
              <a:rPr lang="en-US" altLang="zh-CN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&amp;</a:t>
            </a:r>
            <a:r>
              <a:rPr lang="zh-CN" altLang="en-US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亲子家庭无压力！ 推荐用两步路</a:t>
            </a:r>
            <a:r>
              <a:rPr lang="en-US" altLang="zh-CN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APP</a:t>
            </a:r>
            <a:r>
              <a:rPr lang="zh-CN" altLang="en-US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导航，</a:t>
            </a:r>
            <a:endParaRPr lang="zh-CN" altLang="en-US" sz="1600" b="0" i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边拍边玩：骑行</a:t>
            </a:r>
            <a:r>
              <a:rPr lang="en-US" altLang="zh-CN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r>
              <a:rPr lang="zh-CN" altLang="en-US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小时</a:t>
            </a:r>
            <a:r>
              <a:rPr lang="en-US" altLang="zh-CN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+</a:t>
            </a:r>
            <a:r>
              <a:rPr lang="zh-CN" altLang="en-US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休息</a:t>
            </a:r>
            <a:r>
              <a:rPr lang="en-US" altLang="zh-CN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</a:t>
            </a:r>
            <a:r>
              <a:rPr lang="zh-CN" altLang="en-US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小时（约</a:t>
            </a:r>
            <a:r>
              <a:rPr lang="en-US" altLang="zh-CN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</a:t>
            </a:r>
            <a:r>
              <a:rPr lang="zh-CN" altLang="en-US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小时） </a:t>
            </a:r>
            <a:endParaRPr lang="zh-CN" altLang="en-US" sz="1600" b="0" i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纯骑行不停留：</a:t>
            </a:r>
            <a:r>
              <a:rPr lang="en-US" altLang="zh-CN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1.5</a:t>
            </a:r>
            <a:r>
              <a:rPr lang="zh-CN" altLang="en-US" sz="1600" b="0" i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小时内可完成 </a:t>
            </a:r>
            <a:endParaRPr lang="zh-CN" altLang="en-US" sz="1600" b="0" i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838825"/>
          </a:xfrm>
          <a:prstGeom prst="rect">
            <a:avLst/>
          </a:prstGeom>
          <a:solidFill>
            <a:srgbClr val="FFFFFF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rcRect l="5960" r="5960"/>
          <a:stretch>
            <a:fillRect/>
          </a:stretch>
        </p:blipFill>
        <p:spPr>
          <a:xfrm>
            <a:off x="0" y="0"/>
            <a:ext cx="9144000" cy="5838825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rcRect t="5230" b="5230"/>
          <a:stretch>
            <a:fillRect/>
          </a:stretch>
        </p:blipFill>
        <p:spPr>
          <a:xfrm>
            <a:off x="0" y="0"/>
            <a:ext cx="9144000" cy="16383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71500" y="285750"/>
            <a:ext cx="8001000" cy="8001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3150"/>
              </a:lnSpc>
              <a:buNone/>
            </a:pPr>
            <a:r>
              <a:rPr lang="zh-CN" altLang="en-US" sz="22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露营（含空调）自助烧烤</a:t>
            </a:r>
            <a:r>
              <a:rPr lang="en-US" altLang="zh-CN" sz="22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&amp;</a:t>
            </a:r>
            <a:r>
              <a:rPr lang="zh-CN" altLang="en-US" sz="22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游戏</a:t>
            </a:r>
            <a:r>
              <a:rPr lang="zh-CN" altLang="en-US" sz="22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活动</a:t>
            </a:r>
            <a:endParaRPr lang="zh-CN" altLang="en-US" sz="2250" b="1" dirty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6" name="Text 2"/>
          <p:cNvSpPr/>
          <p:nvPr/>
        </p:nvSpPr>
        <p:spPr>
          <a:xfrm>
            <a:off x="571500" y="1143000"/>
            <a:ext cx="8001000" cy="2095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200" dirty="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rcRect t="23617" b="7827"/>
          <a:stretch>
            <a:fillRect/>
          </a:stretch>
        </p:blipFill>
        <p:spPr>
          <a:xfrm>
            <a:off x="6241415" y="1409700"/>
            <a:ext cx="2902585" cy="442214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rcRect t="37086" b="31531"/>
          <a:stretch>
            <a:fillRect/>
          </a:stretch>
        </p:blipFill>
        <p:spPr>
          <a:xfrm>
            <a:off x="3414395" y="1487170"/>
            <a:ext cx="2314575" cy="161417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5"/>
          <a:srcRect t="25370" b="11469"/>
          <a:stretch>
            <a:fillRect/>
          </a:stretch>
        </p:blipFill>
        <p:spPr>
          <a:xfrm>
            <a:off x="456565" y="1409700"/>
            <a:ext cx="2136775" cy="299974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6"/>
          <a:srcRect t="31852" b="39704"/>
          <a:stretch>
            <a:fillRect/>
          </a:stretch>
        </p:blipFill>
        <p:spPr>
          <a:xfrm>
            <a:off x="3366135" y="3848100"/>
            <a:ext cx="2314575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 l="6" r="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06120" y="185420"/>
            <a:ext cx="4762500" cy="13335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5250"/>
              </a:lnSpc>
              <a:buNone/>
            </a:pPr>
            <a:r>
              <a:rPr lang="zh-CN" altLang="en-US" sz="37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别墅轰趴</a:t>
            </a:r>
            <a:r>
              <a:rPr lang="en-US" sz="37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</a:t>
            </a:r>
            <a:r>
              <a:rPr lang="zh-CN" altLang="en-US" sz="37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文莲雅</a:t>
            </a:r>
            <a:r>
              <a:rPr lang="zh-CN" altLang="en-US" sz="37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居</a:t>
            </a:r>
            <a:endParaRPr lang="zh-CN" altLang="en-US" sz="3750" b="1" dirty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706120" y="1695132"/>
            <a:ext cx="4762500" cy="14288"/>
          </a:xfrm>
          <a:prstGeom prst="rect">
            <a:avLst/>
          </a:prstGeom>
          <a:solidFill>
            <a:srgbClr val="000000">
              <a:alpha val="30000"/>
            </a:srgbClr>
          </a:solidFill>
        </p:spPr>
      </p:sp>
      <p:sp>
        <p:nvSpPr>
          <p:cNvPr id="5" name="Text 2"/>
          <p:cNvSpPr/>
          <p:nvPr/>
        </p:nvSpPr>
        <p:spPr>
          <a:xfrm>
            <a:off x="706120" y="1899920"/>
            <a:ext cx="4762500" cy="2095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19725" y="3009900"/>
            <a:ext cx="3729038" cy="28575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2500"/>
              </a:lnSpc>
              <a:buNone/>
            </a:pPr>
            <a:r>
              <a:rPr lang="en-US" sz="22500" b="1" dirty="0">
                <a:solidFill>
                  <a:srgbClr val="BFAFE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22500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465" y="2367280"/>
            <a:ext cx="4740275" cy="24104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57825"/>
          </a:xfrm>
          <a:prstGeom prst="rect">
            <a:avLst/>
          </a:prstGeom>
          <a:solidFill>
            <a:srgbClr val="FFFFFF"/>
          </a:solidFill>
        </p:spPr>
        <p:txBody>
          <a:bodyPr/>
          <a:p>
            <a:r>
              <a:rPr lang="zh-CN" altLang="en-US"/>
              <a:t>★负一楼（共</a:t>
            </a:r>
            <a:r>
              <a:rPr lang="en-US" altLang="zh-CN"/>
              <a:t>2</a:t>
            </a:r>
            <a:r>
              <a:rPr lang="zh-CN" altLang="en-US"/>
              <a:t>间房）：</a:t>
            </a:r>
            <a:r>
              <a:rPr lang="en-US" altLang="zh-CN"/>
              <a:t>KTV</a:t>
            </a:r>
            <a:r>
              <a:rPr lang="zh-CN" altLang="en-US"/>
              <a:t>、吧台、电竞五黑、街机</a:t>
            </a:r>
            <a:r>
              <a:rPr lang="en-US" altLang="zh-CN"/>
              <a:t>*2</a:t>
            </a:r>
            <a:r>
              <a:rPr lang="zh-CN" altLang="en-US"/>
              <a:t>、模拟赛车、火力全开、篮球架、拳击、品茗区、棋牌、大床房</a:t>
            </a:r>
            <a:r>
              <a:rPr lang="en-US" altLang="zh-CN"/>
              <a:t>1.8*2</a:t>
            </a:r>
            <a:r>
              <a:rPr lang="zh-CN" altLang="en-US"/>
              <a:t>米床</a:t>
            </a:r>
            <a:r>
              <a:rPr lang="en-US" altLang="zh-CN"/>
              <a:t>+1.8*2</a:t>
            </a:r>
            <a:r>
              <a:rPr lang="zh-CN" altLang="en-US"/>
              <a:t>米床、家庭影院、公共卫生间（可淋浴）★一楼（共</a:t>
            </a:r>
            <a:r>
              <a:rPr lang="en-US" altLang="zh-CN"/>
              <a:t>2</a:t>
            </a:r>
            <a:r>
              <a:rPr lang="zh-CN" altLang="en-US"/>
              <a:t>间房）：多功能厅（可投影、可桌游）、餐厅、上下铺、榻榻米、公共卫生间</a:t>
            </a:r>
            <a:r>
              <a:rPr lang="en-US" altLang="zh-CN"/>
              <a:t>*2</a:t>
            </a:r>
            <a:r>
              <a:rPr lang="zh-CN" altLang="en-US"/>
              <a:t>（可淋浴）★院子：烧烤区</a:t>
            </a:r>
            <a:endParaRPr lang="zh-CN" alt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1"/>
          <a:srcRect t="5230" b="5230"/>
          <a:stretch>
            <a:fillRect/>
          </a:stretch>
        </p:blipFill>
        <p:spPr>
          <a:xfrm>
            <a:off x="0" y="0"/>
            <a:ext cx="9144000" cy="16383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71500" y="1143000"/>
            <a:ext cx="8001000" cy="2095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200" dirty="0"/>
          </a:p>
        </p:txBody>
      </p:sp>
      <p:pic>
        <p:nvPicPr>
          <p:cNvPr id="22" name="图片 21" descr="64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9380" y="414020"/>
            <a:ext cx="3050540" cy="1895475"/>
          </a:xfrm>
          <a:prstGeom prst="rect">
            <a:avLst/>
          </a:prstGeom>
        </p:spPr>
      </p:pic>
      <p:pic>
        <p:nvPicPr>
          <p:cNvPr id="23" name="图片 22" descr="640 (2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9380" y="2787015"/>
            <a:ext cx="3168650" cy="2113280"/>
          </a:xfrm>
          <a:prstGeom prst="rect">
            <a:avLst/>
          </a:prstGeom>
        </p:spPr>
      </p:pic>
      <p:pic>
        <p:nvPicPr>
          <p:cNvPr id="24" name="图片 23" descr="640 (3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0425" y="2763520"/>
            <a:ext cx="3203575" cy="2136775"/>
          </a:xfrm>
          <a:prstGeom prst="rect">
            <a:avLst/>
          </a:prstGeom>
        </p:spPr>
      </p:pic>
      <p:pic>
        <p:nvPicPr>
          <p:cNvPr id="25" name="图片 24" descr="640 (1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8030" y="414020"/>
            <a:ext cx="3213735" cy="1809115"/>
          </a:xfrm>
          <a:prstGeom prst="rect">
            <a:avLst/>
          </a:prstGeom>
        </p:spPr>
      </p:pic>
      <p:sp>
        <p:nvSpPr>
          <p:cNvPr id="26" name="文本框 25"/>
          <p:cNvSpPr txBox="1"/>
          <p:nvPr/>
        </p:nvSpPr>
        <p:spPr>
          <a:xfrm>
            <a:off x="180340" y="161290"/>
            <a:ext cx="2366645" cy="3809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0" fontAlgn="auto">
              <a:lnSpc>
                <a:spcPct val="150000"/>
              </a:lnSpc>
            </a:pP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★负一楼（共</a:t>
            </a:r>
            <a:r>
              <a:rPr lang="en-US" altLang="zh-CN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间房）：</a:t>
            </a:r>
            <a:r>
              <a:rPr lang="en-US" altLang="zh-CN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KTV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、吧台、电竞五黑、街机</a:t>
            </a:r>
            <a:r>
              <a:rPr lang="en-US" altLang="zh-CN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*2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、模拟赛车、火力全开、篮球架、拳击、品茗区、棋牌、大床房</a:t>
            </a:r>
            <a:r>
              <a:rPr lang="en-US" altLang="zh-CN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1.8*2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米床</a:t>
            </a:r>
            <a:r>
              <a:rPr lang="en-US" altLang="zh-CN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+1.8*2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米床、家庭影院、公共卫生间（可淋浴）</a:t>
            </a:r>
            <a:endParaRPr lang="zh-CN" altLang="en-US" sz="16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★一楼（共</a:t>
            </a:r>
            <a:r>
              <a:rPr lang="en-US" altLang="zh-CN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间房）：多功能厅（可投影、可桌游）、餐厅、上下铺、榻榻米、公共卫生间</a:t>
            </a:r>
            <a:r>
              <a:rPr lang="en-US" altLang="zh-CN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*2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（可淋浴）</a:t>
            </a:r>
            <a:endParaRPr lang="zh-CN" altLang="en-US" sz="16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indent="0" fontAlgn="auto">
              <a:lnSpc>
                <a:spcPct val="150000"/>
              </a:lnSpc>
            </a:pP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★院子：烧烤区</a:t>
            </a:r>
            <a:endParaRPr lang="zh-CN" altLang="en-US" sz="16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2738120" y="5003800"/>
            <a:ext cx="41548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费用：</a:t>
            </a:r>
            <a:r>
              <a:rPr lang="en-US" altLang="zh-CN"/>
              <a:t>7h 2080 </a:t>
            </a:r>
            <a:r>
              <a:rPr lang="zh-CN" altLang="en-US"/>
              <a:t>餐食可订购或者</a:t>
            </a:r>
            <a:r>
              <a:rPr lang="zh-CN" altLang="en-US"/>
              <a:t>自带</a:t>
            </a:r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 l="6" r="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9780" y="168910"/>
            <a:ext cx="4762500" cy="83566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5250"/>
              </a:lnSpc>
              <a:buNone/>
            </a:pPr>
            <a:r>
              <a:rPr lang="zh-CN" altLang="en-US" sz="37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佘山国家旅游</a:t>
            </a:r>
            <a:r>
              <a:rPr lang="zh-CN" altLang="en-US" sz="37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度假区</a:t>
            </a:r>
            <a:endParaRPr lang="zh-CN" altLang="en-US" sz="3750" b="1" dirty="0">
              <a:solidFill>
                <a:srgbClr val="33333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825500" y="1004887"/>
            <a:ext cx="4762500" cy="14288"/>
          </a:xfrm>
          <a:prstGeom prst="rect">
            <a:avLst/>
          </a:prstGeom>
          <a:solidFill>
            <a:srgbClr val="000000">
              <a:alpha val="30000"/>
            </a:srgbClr>
          </a:solidFill>
        </p:spPr>
      </p:sp>
      <p:sp>
        <p:nvSpPr>
          <p:cNvPr id="5" name="Text 2"/>
          <p:cNvSpPr/>
          <p:nvPr/>
        </p:nvSpPr>
        <p:spPr>
          <a:xfrm>
            <a:off x="571500" y="4362450"/>
            <a:ext cx="4762500" cy="2095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19725" y="3009900"/>
            <a:ext cx="3729038" cy="28575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2500"/>
              </a:lnSpc>
              <a:buNone/>
            </a:pPr>
            <a:r>
              <a:rPr lang="en-US" sz="22500" b="1" dirty="0">
                <a:solidFill>
                  <a:srgbClr val="BFAFE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</a:t>
            </a:r>
            <a:endParaRPr lang="en-US" sz="22500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" y="2402205"/>
            <a:ext cx="5178425" cy="23552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324485" y="377825"/>
            <a:ext cx="3134995" cy="42805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，真人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CS:120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元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位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endParaRPr lang="en-US" altLang="zh-CN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，皮划艇：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88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元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位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endParaRPr lang="en-US" altLang="zh-CN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，烧烤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桌餐：菜单自选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endParaRPr lang="en-US" altLang="zh-CN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4,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垂钓：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200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元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位（杆，饵料）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endParaRPr lang="en-US" altLang="zh-CN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5.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脚踏船：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68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元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位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endParaRPr lang="en-US" altLang="zh-CN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，烤全羊：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2088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元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只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/22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斤以上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endParaRPr lang="en-US" altLang="zh-CN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7.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垂钓小龙虾：暂停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endParaRPr lang="en-US" altLang="zh-CN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8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，骑马：体验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50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元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圈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，野骑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45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分钟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350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元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endParaRPr lang="en-US" altLang="zh-CN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9.KTV:1500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元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/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场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参考策划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方案：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840" y="2463800"/>
            <a:ext cx="3558540" cy="261366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670" y="120015"/>
            <a:ext cx="3124835" cy="2343785"/>
          </a:xfrm>
          <a:prstGeom prst="rect">
            <a:avLst/>
          </a:prstGeom>
        </p:spPr>
      </p:pic>
      <p:graphicFrame>
        <p:nvGraphicFramePr>
          <p:cNvPr id="3" name="对象 2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614170" y="4277360"/>
          <a:ext cx="971550" cy="800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showAsIcon="1" r:id="rId3" imgW="971550" imgH="800100" progId="Package">
                  <p:embed/>
                </p:oleObj>
              </mc:Choice>
              <mc:Fallback>
                <p:oleObj name="" showAsIcon="1" r:id="rId3" imgW="971550" imgH="800100" progId="Package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614170" y="4277360"/>
                        <a:ext cx="971550" cy="800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 l="6" r="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9780" y="168910"/>
            <a:ext cx="4762500" cy="83566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5250"/>
              </a:lnSpc>
              <a:buNone/>
            </a:pPr>
            <a:r>
              <a:rPr lang="zh-CN" altLang="en-US" sz="375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秘语森林基地</a:t>
            </a:r>
            <a:endParaRPr lang="en-US" sz="3750" dirty="0"/>
          </a:p>
        </p:txBody>
      </p:sp>
      <p:sp>
        <p:nvSpPr>
          <p:cNvPr id="4" name="Shape 1"/>
          <p:cNvSpPr/>
          <p:nvPr/>
        </p:nvSpPr>
        <p:spPr>
          <a:xfrm>
            <a:off x="825500" y="1004887"/>
            <a:ext cx="4762500" cy="14288"/>
          </a:xfrm>
          <a:prstGeom prst="rect">
            <a:avLst/>
          </a:prstGeom>
          <a:solidFill>
            <a:srgbClr val="000000">
              <a:alpha val="30000"/>
            </a:srgbClr>
          </a:solidFill>
        </p:spPr>
      </p:sp>
      <p:sp>
        <p:nvSpPr>
          <p:cNvPr id="5" name="Text 2"/>
          <p:cNvSpPr/>
          <p:nvPr/>
        </p:nvSpPr>
        <p:spPr>
          <a:xfrm>
            <a:off x="571500" y="4362450"/>
            <a:ext cx="4762500" cy="20955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50"/>
              </a:lnSpc>
              <a:buNone/>
            </a:pP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19725" y="3009900"/>
            <a:ext cx="3729038" cy="2857500"/>
          </a:xfrm>
          <a:prstGeom prst="rect">
            <a:avLst/>
          </a:prstGeom>
          <a:noFill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2500"/>
              </a:lnSpc>
              <a:buNone/>
            </a:pPr>
            <a:r>
              <a:rPr lang="en-US" sz="22500" b="1" dirty="0">
                <a:solidFill>
                  <a:srgbClr val="BFAFE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</a:t>
            </a:r>
            <a:endParaRPr lang="en-US" sz="22500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30" y="2400935"/>
            <a:ext cx="5154930" cy="22961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9046845" cy="5079682"/>
            <a:chOff x="0" y="0"/>
            <a:chExt cx="12062460" cy="6772909"/>
          </a:xfrm>
        </p:grpSpPr>
        <p:pic>
          <p:nvPicPr>
            <p:cNvPr id="3" name="object 3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0" y="387095"/>
              <a:ext cx="12062460" cy="6385560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5039" y="0"/>
              <a:ext cx="3135782" cy="884593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4765166" y="165734"/>
            <a:ext cx="3607308" cy="4812029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651290" y="166487"/>
            <a:ext cx="1329214" cy="2323148"/>
            <a:chOff x="868387" y="221983"/>
            <a:chExt cx="1772285" cy="309753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83549" y="989787"/>
              <a:ext cx="857046" cy="1524012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8387" y="221983"/>
              <a:ext cx="889177" cy="3097428"/>
            </a:xfrm>
            <a:prstGeom prst="rect">
              <a:avLst/>
            </a:prstGeom>
          </p:spPr>
        </p:pic>
      </p:grpSp>
      <p:grpSp>
        <p:nvGrpSpPr>
          <p:cNvPr id="6" name="object 6"/>
          <p:cNvGrpSpPr/>
          <p:nvPr/>
        </p:nvGrpSpPr>
        <p:grpSpPr>
          <a:xfrm>
            <a:off x="596645" y="108584"/>
            <a:ext cx="3975735" cy="4927759"/>
            <a:chOff x="795527" y="144779"/>
            <a:chExt cx="5300980" cy="6570345"/>
          </a:xfrm>
        </p:grpSpPr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95527" y="3429000"/>
              <a:ext cx="5035296" cy="32857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194304" y="144779"/>
              <a:ext cx="2901696" cy="3867912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719071" y="222884"/>
            <a:ext cx="7110603" cy="4920615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95678" y="9773"/>
            <a:ext cx="1146334" cy="5086350"/>
            <a:chOff x="127571" y="13030"/>
            <a:chExt cx="1528445" cy="678180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7571" y="394157"/>
              <a:ext cx="1226388" cy="269834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11923" y="3106737"/>
              <a:ext cx="364413" cy="41261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68229" y="3553777"/>
              <a:ext cx="448379" cy="2280297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304264" y="13030"/>
              <a:ext cx="351218" cy="1220622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304264" y="1440510"/>
              <a:ext cx="351218" cy="1927212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304264" y="3585552"/>
              <a:ext cx="351218" cy="1569694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322489" y="5374347"/>
              <a:ext cx="315043" cy="340360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316785" y="5750915"/>
              <a:ext cx="326810" cy="300989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308379" y="6090615"/>
              <a:ext cx="344373" cy="703618"/>
            </a:xfrm>
            <a:prstGeom prst="rect">
              <a:avLst/>
            </a:prstGeom>
          </p:spPr>
        </p:pic>
      </p:grpSp>
      <p:pic>
        <p:nvPicPr>
          <p:cNvPr id="13" name="object 13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298238" y="1693783"/>
            <a:ext cx="263414" cy="1858365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5690996" y="380618"/>
            <a:ext cx="3086100" cy="243001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493900" y="548639"/>
            <a:ext cx="6668262" cy="404622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08892" y="640937"/>
            <a:ext cx="723157" cy="247075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253145" y="175946"/>
            <a:ext cx="1096870" cy="67818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05118" y="220218"/>
            <a:ext cx="1149029" cy="588302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2326" y="933831"/>
            <a:ext cx="8724519" cy="39604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690</Words>
  <Application>WPS 演示</Application>
  <PresentationFormat>On-screen Show (16:9)</PresentationFormat>
  <Paragraphs>63</Paragraphs>
  <Slides>15</Slides>
  <Notes>23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6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Office Theme</vt:lpstr>
      <vt:lpstr>1_Office Theme</vt:lpstr>
      <vt:lpstr>Package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S²K @</cp:lastModifiedBy>
  <cp:revision>5</cp:revision>
  <dcterms:created xsi:type="dcterms:W3CDTF">2026-01-08T13:49:00Z</dcterms:created>
  <dcterms:modified xsi:type="dcterms:W3CDTF">2026-01-11T09:52:36Z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06394C6620724225ABDB9BC90EE4BA75_13</vt:lpwstr>
  </property>
</Properties>
</file>